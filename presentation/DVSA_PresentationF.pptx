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5" r:id="rId38"/>
    <p:sldId id="296" r:id="rId39"/>
    <p:sldId id="297" r:id="rId40"/>
    <p:sldId id="298" r:id="rId41"/>
    <p:sldId id="299" r:id="rId42"/>
    <p:sldId id="322" r:id="rId43"/>
    <p:sldId id="323" r:id="rId44"/>
    <p:sldId id="324" r:id="rId45"/>
    <p:sldId id="325" r:id="rId46"/>
    <p:sldId id="306" r:id="rId47"/>
    <p:sldId id="307" r:id="rId48"/>
    <p:sldId id="308" r:id="rId49"/>
    <p:sldId id="309" r:id="rId50"/>
    <p:sldId id="326" r:id="rId51"/>
    <p:sldId id="327" r:id="rId52"/>
    <p:sldId id="328" r:id="rId53"/>
    <p:sldId id="329" r:id="rId54"/>
    <p:sldId id="310" r:id="rId55"/>
    <p:sldId id="311" r:id="rId56"/>
    <p:sldId id="312" r:id="rId57"/>
    <p:sldId id="313" r:id="rId58"/>
    <p:sldId id="318" r:id="rId59"/>
    <p:sldId id="319" r:id="rId60"/>
    <p:sldId id="320" r:id="rId61"/>
    <p:sldId id="321" r:id="rId62"/>
    <p:sldId id="314" r:id="rId63"/>
    <p:sldId id="315" r:id="rId64"/>
    <p:sldId id="316" r:id="rId65"/>
    <p:sldId id="317" r:id="rId66"/>
    <p:sldId id="304" r:id="rId67"/>
    <p:sldId id="305" r:id="rId6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31" d="100"/>
          <a:sy n="131" d="100"/>
        </p:scale>
        <p:origin x="34" y="-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3984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73152" cy="21945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DVSA Vulnerability Discovery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Remediation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ICS-344 Course Project  |  OWASP Damn Vulnerable Serverless Application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6405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ICS-344: Information Security | KFUPM | Term 252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54864" cy="45491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731520"/>
            <a:ext cx="8412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Architecture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Official Vulnerability Lessons (Lessons #1–#10)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Vulnerabilities: B1–B7</a:t>
            </a:r>
            <a:endParaRPr lang="ar-SA" sz="15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Table &amp; Key Takeaways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lesson covers: Exploit → Evidence → Fix → Verification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DVSA — AWS Serverless Architecture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54864" cy="45491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731520"/>
            <a:ext cx="8412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website hosted on Amazon S3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Point: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API Gateway — routes HTTP requests to Lambda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Layer: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 functions — business logic, auth, processing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Layer: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(orders/users), S3 (receipts), SQS (messaging)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Identity: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Cognito — user auth and JWT issuance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Vulnerabilities — Summary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6858000" cy="4167450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40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Vulnerability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Affected 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CVSS 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 Injection (RCE)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Lambda / node-serialize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Broken Authentication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Lambda / JWT validation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Sensitive Data Exposure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Lambda / S3 receipts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Insecure Cloud Config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bucket policy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Broken Access Control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Lambda / admin function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Denial of 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Lambda concurrency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Over-Privileged Function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IAM execution 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 Vulnerabilities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Lambda / race condition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Vulnerable Dependencies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node-serialize package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Unhandled Exceptions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Lambda error handling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E75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#1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Injection (RCE)</a:t>
            </a:r>
            <a:endParaRPr lang="en-US" sz="4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#1: Event Injection — How It Works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402336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731520"/>
            <a:ext cx="4023360" cy="411480"/>
          </a:xfrm>
          <a:prstGeom prst="rect">
            <a:avLst/>
          </a:prstGeom>
          <a:solidFill>
            <a:srgbClr val="2E75B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The Attack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234440"/>
            <a:ext cx="3749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to /order with $$ND_FUNC$$ payload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node-serialize evaluates embedded JS function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executes inside Lambda environment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writes/reads /tmp/pwned.txt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CloudWatch log shows FILE READ SUCCESS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731520"/>
            <a:ext cx="402336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0" y="731520"/>
            <a:ext cx="4023360" cy="411480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The Fix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83480" y="1234440"/>
            <a:ext cx="3749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node-serialize from package.json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unserialize() with JSON.parse()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input schema validation (allowlist)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fixed Lambda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$$ND_FUNC$$ no longer executes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#1 — Evidence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94EF68-9F38-D096-4DBC-D00251CAE4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" y="1420019"/>
            <a:ext cx="8717280" cy="6162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0A8E6C7-E846-CAC7-C505-16F1CCC7D08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012" y="2679058"/>
            <a:ext cx="8673975" cy="616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#1 — Post-Fix Verification</a:t>
            </a: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DE58BD-9BB3-37C8-4534-558BEE3F3C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6640" y="1168876"/>
            <a:ext cx="5750719" cy="11934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3E74F22-9FFC-2337-8005-10E716A039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71" y="2891155"/>
            <a:ext cx="8971258" cy="178466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E75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#2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Authentication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#2: Broken Authentication — How It Works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402336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731520"/>
            <a:ext cx="4023360" cy="411480"/>
          </a:xfrm>
          <a:prstGeom prst="rect">
            <a:avLst/>
          </a:prstGeom>
          <a:solidFill>
            <a:srgbClr val="2E75B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The Attack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234440"/>
            <a:ext cx="3749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TOKEN_B (attacker) from DevTools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JWT payload — extract username &amp; sub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username/sub with victim (User C) identity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Re-encode payload, keep original signature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forged token → receive victim's orders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731520"/>
            <a:ext cx="402336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0" y="731520"/>
            <a:ext cx="4023360" cy="411480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The Fix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83480" y="1234440"/>
            <a:ext cx="3749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verifyCognitoJwt() helper in order-manager.js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Cognito JWKS public keys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JWT signature using node-jose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issuer and expiration claims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401 on any verification failure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#2 — Evidence: Forged Token Returns Victim's Orders</a:t>
            </a: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049BD5-2DD1-60FF-D29F-4CB4BC3D83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764" y="1388983"/>
            <a:ext cx="8578471" cy="279987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#2 — Post-Fix: Forged Token Rejected</a:t>
            </a: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EB24FB-51AE-07DF-B0C1-012C09709D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684" y="1643653"/>
            <a:ext cx="8542632" cy="238732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E75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#3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Information Disclosure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#3: Sensitive Data Exposure — How It Works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402336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731520"/>
            <a:ext cx="4023360" cy="411480"/>
          </a:xfrm>
          <a:prstGeom prst="rect">
            <a:avLst/>
          </a:prstGeom>
          <a:solidFill>
            <a:srgbClr val="2E75B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The Attack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234440"/>
            <a:ext cx="3749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attacker sends action='receipt'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victim's order-id in the request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DVSA-ADMIN-GET-RECEIPT generates signed URL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ownership check — any user's receipt accessible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downloads victim's financial receipt from S3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731520"/>
            <a:ext cx="402336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0" y="731520"/>
            <a:ext cx="4023360" cy="411480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The Fix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83480" y="1234440"/>
            <a:ext cx="3749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DynamoDB ownership check in receipt Lambda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requesting user owns the order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403 Forbidden if ownership mismatch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signed URL expiry duration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all receipt access events to CloudWatch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#3 — Post-Fix Verification</a:t>
            </a: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A3E28A-9E3F-9212-E67E-D19B83338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771" y="1870560"/>
            <a:ext cx="7888457" cy="219882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E75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#4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Cloud Configuration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#4: Insecure Cloud Config — How It Works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402336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731520"/>
            <a:ext cx="4023360" cy="411480"/>
          </a:xfrm>
          <a:prstGeom prst="rect">
            <a:avLst/>
          </a:prstGeom>
          <a:solidFill>
            <a:srgbClr val="2E75B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The Attack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234440"/>
            <a:ext cx="3749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DVSA receipts S3 bucket name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arbitrary file without app credentials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succeeds → overly permissive bucket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maliciously-named file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Lambda processes unsafe filename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731520"/>
            <a:ext cx="402336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0" y="731520"/>
            <a:ext cx="4023360" cy="411480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The Fix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83480" y="1234440"/>
            <a:ext cx="3749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S3 bucket policy to Lambda roles only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public write ACL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filename allowlist validation in Lambda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keys with path traversal or special chars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unauthorized upload returns Access Denied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#4 — Evidence</a:t>
            </a: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8A5E4E-8B6F-E5C9-D48A-ABA12CC631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52" y="891540"/>
            <a:ext cx="9204903" cy="34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AB333E-98A2-A14F-F0F9-557EF4A936F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79" y="1531937"/>
            <a:ext cx="8085441" cy="26695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#4 — Post-Fix Verification</a:t>
            </a: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1AB726-4958-C3E8-E7FE-B161ED904AA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395" y="701040"/>
            <a:ext cx="7901210" cy="343820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E9F8E8-8F87-776B-6EBF-E994F8EE86C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49140"/>
            <a:ext cx="9144000" cy="44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E75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#5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Access Control</a:t>
            </a:r>
            <a:endParaRPr lang="en-US" sz="4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#5: Broken Access Control — How It Works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402336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731520"/>
            <a:ext cx="4023360" cy="411480"/>
          </a:xfrm>
          <a:prstGeom prst="rect">
            <a:avLst/>
          </a:prstGeom>
          <a:solidFill>
            <a:srgbClr val="2E75B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The Attack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234440"/>
            <a:ext cx="3749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user creates an order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action='update' with own valid JWT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order status to 'paid' — no admin check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appears paid without completing checkout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confirms unauthorized status change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731520"/>
            <a:ext cx="402336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0" y="731520"/>
            <a:ext cx="4023360" cy="411480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The Fix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83480" y="1234440"/>
            <a:ext cx="3749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Cognito group check in order-manager.js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cognito:groups includes 'admin' for update action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403 Forbidden for non-admin update attempts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server-side order state transition validation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regular user update returns 403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#5 — Post-Fix Verification</a:t>
            </a: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9C8A8F-925C-F7F7-C439-ADBD108736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58078"/>
            <a:ext cx="9144000" cy="62734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E75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#6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 of Service (DoS)</a:t>
            </a:r>
            <a:endParaRPr lang="en-US" sz="4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#6: Denial of Service — How It Works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402336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731520"/>
            <a:ext cx="4023360" cy="411480"/>
          </a:xfrm>
          <a:prstGeom prst="rect">
            <a:avLst/>
          </a:prstGeom>
          <a:solidFill>
            <a:srgbClr val="2E75B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The Attack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234440"/>
            <a:ext cx="3749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order, advance to shipping state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50+ concurrent billing requests via bash loop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concurrency limit exhausted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billing request returns 429/500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shows Lambda throttle spike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731520"/>
            <a:ext cx="402336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0" y="731520"/>
            <a:ext cx="4023360" cy="411480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The Fix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83480" y="1234440"/>
            <a:ext cx="3749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API Gateway throttling on billing route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burst/rate limits per user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DynamoDB conditional write (billing lock)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first valid billing per order succeeds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flood throttled; legitimate billing works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#6 — Evidence</a:t>
            </a: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206644-53EF-7BD9-53F9-DFC18DD57E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8827" y="1376755"/>
            <a:ext cx="5046345" cy="28581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#6 — Post-Fix Verification</a:t>
            </a: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39E432-B8F0-D4F0-782B-3858957117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363" y="701964"/>
            <a:ext cx="6486542" cy="1765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22ED10-B64F-DE63-95CC-5B74DCB063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9192" y="2574113"/>
            <a:ext cx="4992884" cy="248203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E75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#7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Over-Privileged Function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#7: Over-Privileged Function — How It Works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402336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731520"/>
            <a:ext cx="4023360" cy="411480"/>
          </a:xfrm>
          <a:prstGeom prst="rect">
            <a:avLst/>
          </a:prstGeom>
          <a:solidFill>
            <a:srgbClr val="2E75B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The Finding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234440"/>
            <a:ext cx="3749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DVSA-SEND-RECEIPT-EMAIL has wildcard IAM policies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S3: GetObject/PutObject on arn:aws:s3:::* (all buckets)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DynamoDB: Scan/Get/Put/Delete on table/* (all tables)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AmazonSESFullAccess — far beyond needed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Simulator confirms: all actions ALLOWED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731520"/>
            <a:ext cx="402336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0" y="731520"/>
            <a:ext cx="4023360" cy="411480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The Fix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83480" y="1234440"/>
            <a:ext cx="3749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S3 to receipts bucket key prefix only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DynamoDB to DVSA-ORDERS-DB + GetItem only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SESFullAccess with ses:SendEmail on one identity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all wildcard resource ARNs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non-DVSA resources now show DENIED in Simulator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#7 — Evidence: IAM Policy Simulator</a:t>
            </a: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B6143A-CC4E-477B-9696-0A7E0747A1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3822" y="987057"/>
            <a:ext cx="4116355" cy="39281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#7 — Post-Fix: Simulator Shows Denied</a:t>
            </a: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E78D54-EBB1-995E-506F-7BAB8AFCBC7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6810" y="4131573"/>
            <a:ext cx="9197620" cy="374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9E380DC-BB78-F335-B921-88A7995581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929" y="1044611"/>
            <a:ext cx="4542443" cy="208145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6716F7A-9FB4-94D0-B4A1-40CE4575FF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7913" y="992684"/>
            <a:ext cx="4247158" cy="213337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2E75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#8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Vulnerabilities (Race Condition)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#8: Race Condition — How It Works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402336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731520"/>
            <a:ext cx="4023360" cy="411480"/>
          </a:xfrm>
          <a:prstGeom prst="rect">
            <a:avLst/>
          </a:prstGeom>
          <a:solidFill>
            <a:srgbClr val="2E75B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The Attack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234440"/>
            <a:ext cx="3749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order with 1 item, advance to shipping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T=1: Send billing request for 1-item order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T=2: Immediately send update — change qty to 5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processes update AFTER billing commits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order: 5 items, charged for 1 item only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731520"/>
            <a:ext cx="402336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0" y="731520"/>
            <a:ext cx="4023360" cy="411480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The Fix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83480" y="1234440"/>
            <a:ext cx="3749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handler: DynamoDB ConditionExpression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proceed if status = 'shipping' (atomic lock)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handler: reject if status = 'billing' or later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409 Conflict for concurrent modification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race condition attempt fails with 409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#8 — Evidence</a:t>
            </a: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B09C5A-7C6F-941A-5309-CBA43ED01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329" y="1650944"/>
            <a:ext cx="8437341" cy="184161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#8 — Post-Fix Verification</a:t>
            </a: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932D23-C2CC-FEE1-8209-35384D490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906" y="1910692"/>
            <a:ext cx="8118187" cy="1789297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2E75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#9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Dependencies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#9: Vulnerable Dependencies — How It Works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402336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731520"/>
            <a:ext cx="4023360" cy="411480"/>
          </a:xfrm>
          <a:prstGeom prst="rect">
            <a:avLst/>
          </a:prstGeom>
          <a:solidFill>
            <a:srgbClr val="2E75B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The Finding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234440"/>
            <a:ext cx="3749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code uses: require('node-serialize')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node-serialize v0.0.4 — known critical CVE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arbitrary JS execution via $$ND_FUNC$$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audit confirms: critical severity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root cause of Lesson #1 RCE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731520"/>
            <a:ext cx="402336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0" y="731520"/>
            <a:ext cx="4023360" cy="411480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The Fix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83480" y="1234440"/>
            <a:ext cx="3749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node-serialize from package.json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unserialize() with JSON.parse()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npm audit — confirm no critical findings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all remaining dependencies to reviewed versions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npm audit into CI/CD pipeline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#9 — Post-Fix Verification</a:t>
            </a: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E17268-A602-D390-3DAA-D3E5AF1A8C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779" y="1980564"/>
            <a:ext cx="8554442" cy="1701749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2E75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#10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Unhandled Exceptions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#10: Unhandled Exceptions — How It Works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402336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731520"/>
            <a:ext cx="4023360" cy="411480"/>
          </a:xfrm>
          <a:prstGeom prst="rect">
            <a:avLst/>
          </a:prstGeom>
          <a:solidFill>
            <a:srgbClr val="2E75B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The Attack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234440"/>
            <a:ext cx="3749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malformed POST — omit required fields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crashes with unhandled runtime exception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trace returned in API response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Reveals: file paths, code structure, library names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uses info for targeted follow-up attacks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731520"/>
            <a:ext cx="402336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0" y="731520"/>
            <a:ext cx="4023360" cy="411480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The Fix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83480" y="1234440"/>
            <a:ext cx="3749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handler in try-catch block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input validation at entry point (check required fields)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generic 500: 'An unexpected error occurred'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full stack trace ONLY to CloudWatch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malformed request returns generic error only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#10 — Evidence</a:t>
            </a: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ACCD98-22E4-B9AD-BCB5-D064AF3FB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01345"/>
            <a:ext cx="9144000" cy="3061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D565EB0-2CBB-9D00-4EFB-B55FA83C58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311769"/>
            <a:ext cx="9144000" cy="1810753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#10 — Post-Fix Verification</a:t>
            </a: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BA188C-F80E-F503-48A2-6A47DD30A1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98450"/>
            <a:ext cx="9144000" cy="6248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ECF3C4-0AC5-DF3E-524B-67A814ADF3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926232"/>
            <a:ext cx="9144000" cy="622264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2E75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A2B4A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red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label"/>
          <p:cNvSpPr/>
          <p:nvPr/>
        </p:nvSpPr>
        <p:spPr>
          <a:xfrm>
            <a:off x="914400" y="1371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BDD7EE"/>
                </a:solidFill>
                <a:latin typeface="Calibri" pitchFamily="34" charset="0"/>
              </a:rPr>
              <a:t>Bonus #B1</a:t>
            </a:r>
          </a:p>
        </p:txBody>
      </p:sp>
      <p:sp>
        <p:nvSpPr>
          <p:cNvPr id="5" name="title"/>
          <p:cNvSpPr/>
          <p:nvPr/>
        </p:nvSpPr>
        <p:spPr>
          <a:xfrm>
            <a:off x="914400" y="19202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</a:rPr>
              <a:t>Admin Email Exposed in CloudFormation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4A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hdrtxt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Bonus #B1: Admin Email Exposed in CloudFormation — How It Works</a:t>
            </a:r>
          </a:p>
        </p:txBody>
      </p:sp>
      <p:sp>
        <p:nvSpPr>
          <p:cNvPr id="4" name="atkbox"/>
          <p:cNvSpPr/>
          <p:nvPr/>
        </p:nvSpPr>
        <p:spPr>
          <a:xfrm>
            <a:off x="274320" y="731520"/>
            <a:ext cx="402336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atkhdr"/>
          <p:cNvSpPr/>
          <p:nvPr/>
        </p:nvSpPr>
        <p:spPr>
          <a:xfrm>
            <a:off x="274320" y="731520"/>
            <a:ext cx="4023360" cy="411480"/>
          </a:xfrm>
          <a:prstGeom prst="rect">
            <a:avLst/>
          </a:prstGeom>
          <a:solidFill>
            <a:srgbClr val="2E75B6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🔴  The Attack</a:t>
            </a:r>
          </a:p>
        </p:txBody>
      </p:sp>
      <p:sp>
        <p:nvSpPr>
          <p:cNvPr id="6" name="atkbullets"/>
          <p:cNvSpPr/>
          <p:nvPr/>
        </p:nvSpPr>
        <p:spPr>
          <a:xfrm>
            <a:off x="411480" y="1234440"/>
            <a:ext cx="3749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</a:rPr>
              <a:t>Open CloudFormation → Stack → Parameters tab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</a:rPr>
              <a:t>AdminEmail visible in plain text to any IAM user with read access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</a:rPr>
              <a:t>Retrievable via CLI: aws cloudformation describe-stacks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</a:rPr>
              <a:t>Only requires cloudformation:DescribeStacks — no special privileges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</a:rPr>
              <a:t>Email used for phishing, credential stuffing, or brute-force attacks</a:t>
            </a:r>
            <a:endParaRPr lang="en-US" sz="1200" dirty="0"/>
          </a:p>
        </p:txBody>
      </p:sp>
      <p:sp>
        <p:nvSpPr>
          <p:cNvPr id="7" name="fixbox"/>
          <p:cNvSpPr/>
          <p:nvPr/>
        </p:nvSpPr>
        <p:spPr>
          <a:xfrm>
            <a:off x="4846320" y="731520"/>
            <a:ext cx="402336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fixhdr"/>
          <p:cNvSpPr/>
          <p:nvPr/>
        </p:nvSpPr>
        <p:spPr>
          <a:xfrm>
            <a:off x="4846320" y="731520"/>
            <a:ext cx="4023360" cy="411480"/>
          </a:xfrm>
          <a:prstGeom prst="rect">
            <a:avLst/>
          </a:prstGeom>
          <a:solidFill>
            <a:srgbClr val="C00000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🟢  The Fix</a:t>
            </a:r>
          </a:p>
        </p:txBody>
      </p:sp>
      <p:sp>
        <p:nvSpPr>
          <p:cNvPr id="9" name="fixbullets"/>
          <p:cNvSpPr/>
          <p:nvPr/>
        </p:nvSpPr>
        <p:spPr>
          <a:xfrm>
            <a:off x="4983480" y="1234440"/>
            <a:ext cx="3749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</a:rPr>
              <a:t>Create AWS Secrets Manager secret: dvsa/admin-email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</a:rPr>
              <a:t>Store real admin email value securely in the secret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</a:rPr>
              <a:t>Update CloudFormation parameter to: REDACTED-SEE-SECRETS-MANAGER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</a:rPr>
              <a:t>Real email now requires secretsmanager:GetSecretValue to access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</a:rPr>
              <a:t>Verify: describe-stacks shows REDACTED — not the real email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Bonus #B1: Admin Email Exposed in CloudFormation — Evidence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60EB48-95E7-1269-8B69-5DB92D649A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852276"/>
            <a:ext cx="5943600" cy="17418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Bonus #B1: Admin Email Exposed in CloudFormation — Post-Fix Verification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FE57B5-0B24-EF81-5153-61DF84DA9B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6136" y="493673"/>
            <a:ext cx="5943600" cy="1848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3B40CF1-BDDF-2A1A-400C-7FCD5E52A8B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688" y="2391699"/>
            <a:ext cx="5943600" cy="1097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3EFCC9-425D-C501-CAA1-70AD98F4FC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2973" y="3538521"/>
            <a:ext cx="5284008" cy="15146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2E75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A2B4A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red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label"/>
          <p:cNvSpPr/>
          <p:nvPr/>
        </p:nvSpPr>
        <p:spPr>
          <a:xfrm>
            <a:off x="914400" y="1371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BDD7EE"/>
                </a:solidFill>
                <a:latin typeface="Calibri" pitchFamily="34" charset="0"/>
              </a:rPr>
              <a:t>Bonus #B2</a:t>
            </a:r>
          </a:p>
        </p:txBody>
      </p:sp>
      <p:sp>
        <p:nvSpPr>
          <p:cNvPr id="5" name="title"/>
          <p:cNvSpPr/>
          <p:nvPr/>
        </p:nvSpPr>
        <p:spPr>
          <a:xfrm>
            <a:off x="914400" y="19202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</a:rPr>
              <a:t>User Enumeration via Cognito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4A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hdrtxt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Bonus #B2: User Enumeration via Cognito — How It Works</a:t>
            </a:r>
          </a:p>
        </p:txBody>
      </p:sp>
      <p:sp>
        <p:nvSpPr>
          <p:cNvPr id="4" name="atkbox"/>
          <p:cNvSpPr/>
          <p:nvPr/>
        </p:nvSpPr>
        <p:spPr>
          <a:xfrm>
            <a:off x="274320" y="731520"/>
            <a:ext cx="402336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atkhdr"/>
          <p:cNvSpPr/>
          <p:nvPr/>
        </p:nvSpPr>
        <p:spPr>
          <a:xfrm>
            <a:off x="274320" y="731520"/>
            <a:ext cx="4023360" cy="411480"/>
          </a:xfrm>
          <a:prstGeom prst="rect">
            <a:avLst/>
          </a:prstGeom>
          <a:solidFill>
            <a:srgbClr val="2E75B6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🔴  The Attack</a:t>
            </a:r>
          </a:p>
        </p:txBody>
      </p:sp>
      <p:sp>
        <p:nvSpPr>
          <p:cNvPr id="6" name="atkbullets"/>
          <p:cNvSpPr/>
          <p:nvPr/>
        </p:nvSpPr>
        <p:spPr>
          <a:xfrm>
            <a:off x="411480" y="1234440"/>
            <a:ext cx="3749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</a:rPr>
              <a:t>Send auth with non-existent username: UserNotFoundException returned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</a:rPr>
              <a:t>Send auth with valid username + wrong password: NotAuthorizedException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</a:rPr>
              <a:t>Different errors reveal which accounts exist in the Cognito pool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</a:rPr>
              <a:t>Attacker builds list of valid accounts for brute-force or phishing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</a:rPr>
              <a:t>No admin credentials needed — only a Cognito client ID required</a:t>
            </a:r>
            <a:endParaRPr lang="en-US" sz="1200" dirty="0"/>
          </a:p>
        </p:txBody>
      </p:sp>
      <p:sp>
        <p:nvSpPr>
          <p:cNvPr id="7" name="fixbox"/>
          <p:cNvSpPr/>
          <p:nvPr/>
        </p:nvSpPr>
        <p:spPr>
          <a:xfrm>
            <a:off x="4846320" y="731520"/>
            <a:ext cx="402336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fixhdr"/>
          <p:cNvSpPr/>
          <p:nvPr/>
        </p:nvSpPr>
        <p:spPr>
          <a:xfrm>
            <a:off x="4846320" y="731520"/>
            <a:ext cx="4023360" cy="411480"/>
          </a:xfrm>
          <a:prstGeom prst="rect">
            <a:avLst/>
          </a:prstGeom>
          <a:solidFill>
            <a:srgbClr val="C00000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🟢  The Fix</a:t>
            </a:r>
          </a:p>
        </p:txBody>
      </p:sp>
      <p:sp>
        <p:nvSpPr>
          <p:cNvPr id="9" name="fixbullets"/>
          <p:cNvSpPr/>
          <p:nvPr/>
        </p:nvSpPr>
        <p:spPr>
          <a:xfrm>
            <a:off x="4983480" y="1234440"/>
            <a:ext cx="3749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</a:rPr>
              <a:t>Enable PreventUserExistenceErrors on Cognito App Client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</a:rPr>
              <a:t>aws cognito-idp update-user-pool-client --prevent-user-existence-errors ENABLED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</a:rPr>
              <a:t>Both cases now return: Incorrect username or password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</a:rPr>
              <a:t>No longer possible to distinguish valid from invalid accounts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</a:rPr>
              <a:t>Verify: both responses identical — enumeration blocked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Bonus #B2: User Enumeration via Cognito — Evidence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4B9FC9-B4F1-369A-49DC-1EAAACC1A9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55" y="951658"/>
            <a:ext cx="8912290" cy="1158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F6938A7-AACE-D1BE-CE54-9AB58A7E56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074" y="2469502"/>
            <a:ext cx="6804096" cy="2202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Bonus #B2: User Enumeration via Cognito — Post-Fix Verification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509B54-8053-22D9-D71B-34334871C0D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287" y="3743934"/>
            <a:ext cx="8831425" cy="1020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CC11910-50B7-76D1-AD18-CD58385548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1780" y="758214"/>
            <a:ext cx="5360437" cy="29133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2E75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A2B4A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red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label"/>
          <p:cNvSpPr/>
          <p:nvPr/>
        </p:nvSpPr>
        <p:spPr>
          <a:xfrm>
            <a:off x="914400" y="1371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BDD7EE"/>
                </a:solidFill>
                <a:latin typeface="Calibri" pitchFamily="34" charset="0"/>
              </a:rPr>
              <a:t>Bonus #B3</a:t>
            </a:r>
          </a:p>
        </p:txBody>
      </p:sp>
      <p:sp>
        <p:nvSpPr>
          <p:cNvPr id="5" name="title"/>
          <p:cNvSpPr/>
          <p:nvPr/>
        </p:nvSpPr>
        <p:spPr>
          <a:xfrm>
            <a:off x="914400" y="19202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</a:rPr>
              <a:t>Missing Rate Limiting on Authentication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4A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hdrtxt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Bonus #B3: Missing Rate Limiting on Authentication — How It Works</a:t>
            </a:r>
          </a:p>
        </p:txBody>
      </p:sp>
      <p:sp>
        <p:nvSpPr>
          <p:cNvPr id="4" name="atkbox"/>
          <p:cNvSpPr/>
          <p:nvPr/>
        </p:nvSpPr>
        <p:spPr>
          <a:xfrm>
            <a:off x="274320" y="731520"/>
            <a:ext cx="402336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atkhdr"/>
          <p:cNvSpPr/>
          <p:nvPr/>
        </p:nvSpPr>
        <p:spPr>
          <a:xfrm>
            <a:off x="274320" y="731520"/>
            <a:ext cx="4023360" cy="411480"/>
          </a:xfrm>
          <a:prstGeom prst="rect">
            <a:avLst/>
          </a:prstGeom>
          <a:solidFill>
            <a:srgbClr val="2E75B6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🔴  The Attack</a:t>
            </a:r>
          </a:p>
        </p:txBody>
      </p:sp>
      <p:sp>
        <p:nvSpPr>
          <p:cNvPr id="6" name="atkbullets"/>
          <p:cNvSpPr/>
          <p:nvPr/>
        </p:nvSpPr>
        <p:spPr>
          <a:xfrm>
            <a:off x="411480" y="1234440"/>
            <a:ext cx="3749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</a:rPr>
              <a:t>Send 20 consecutive failed login attempts against a valid account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</a:rPr>
              <a:t>All 20 return NotAuthorizedException — no lockout ever triggered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</a:rPr>
              <a:t>No CAPTCHA, no throttling, no account lockout at any point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</a:rPr>
              <a:t>Attacker can attempt thousands of passwords with no restriction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</a:rPr>
              <a:t>Cognito Advanced Security not enabled — attacks go undetected</a:t>
            </a:r>
            <a:endParaRPr lang="en-US" sz="1200" dirty="0"/>
          </a:p>
        </p:txBody>
      </p:sp>
      <p:sp>
        <p:nvSpPr>
          <p:cNvPr id="7" name="fixbox"/>
          <p:cNvSpPr/>
          <p:nvPr/>
        </p:nvSpPr>
        <p:spPr>
          <a:xfrm>
            <a:off x="4846320" y="731520"/>
            <a:ext cx="402336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fixhdr"/>
          <p:cNvSpPr/>
          <p:nvPr/>
        </p:nvSpPr>
        <p:spPr>
          <a:xfrm>
            <a:off x="4846320" y="731520"/>
            <a:ext cx="4023360" cy="411480"/>
          </a:xfrm>
          <a:prstGeom prst="rect">
            <a:avLst/>
          </a:prstGeom>
          <a:solidFill>
            <a:srgbClr val="C00000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🟢  The Fix</a:t>
            </a:r>
          </a:p>
        </p:txBody>
      </p:sp>
      <p:sp>
        <p:nvSpPr>
          <p:cNvPr id="9" name="fixbullets"/>
          <p:cNvSpPr/>
          <p:nvPr/>
        </p:nvSpPr>
        <p:spPr>
          <a:xfrm>
            <a:off x="4983480" y="1234440"/>
            <a:ext cx="3749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</a:rPr>
              <a:t>Create DynamoDB table: dvsa-auth-attempts (tracks attempts per user)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</a:rPr>
              <a:t>Deploy Pre-Authentication Lambda trigger: dvsa-rate-limiter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</a:rPr>
              <a:t>Lambda blocks after 5 failed attempts within a 5-minute window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</a:rPr>
              <a:t>Attempt 6+ returns: UserLambdaValidationException: Too many attempts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</a:rPr>
              <a:t>Verify: 7 attempts — blocked on attempt 6 with rate limit error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Bonus #B3: Missing Rate Limiting on Authentication — Evidence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6941FD-1FEE-9BFE-C18B-FAC9FAD2C6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9211" y="751322"/>
            <a:ext cx="5220931" cy="41176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Bonus #B3: Missing Rate Limiting on Authentication — Post-Fix Verification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AE646D-B459-0D97-1B42-CDC763313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490" y="685800"/>
            <a:ext cx="5229020" cy="4149697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2E75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A2B4A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red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label"/>
          <p:cNvSpPr/>
          <p:nvPr/>
        </p:nvSpPr>
        <p:spPr>
          <a:xfrm>
            <a:off x="914400" y="1371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BDD7EE"/>
                </a:solidFill>
                <a:latin typeface="Calibri" pitchFamily="34" charset="0"/>
              </a:rPr>
              <a:t>Bonus #B5</a:t>
            </a:r>
          </a:p>
        </p:txBody>
      </p:sp>
      <p:sp>
        <p:nvSpPr>
          <p:cNvPr id="5" name="title"/>
          <p:cNvSpPr/>
          <p:nvPr/>
        </p:nvSpPr>
        <p:spPr>
          <a:xfrm>
            <a:off x="914400" y="19202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</a:rPr>
              <a:t>Mass Assignment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4A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hdrtxt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Bonus #B5: Mass Assignment on Order Update — How It Works</a:t>
            </a:r>
          </a:p>
        </p:txBody>
      </p:sp>
      <p:sp>
        <p:nvSpPr>
          <p:cNvPr id="4" name="atkbox"/>
          <p:cNvSpPr/>
          <p:nvPr/>
        </p:nvSpPr>
        <p:spPr>
          <a:xfrm>
            <a:off x="274320" y="731520"/>
            <a:ext cx="402336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atkhdr"/>
          <p:cNvSpPr/>
          <p:nvPr/>
        </p:nvSpPr>
        <p:spPr>
          <a:xfrm>
            <a:off x="274320" y="731520"/>
            <a:ext cx="4023360" cy="411480"/>
          </a:xfrm>
          <a:prstGeom prst="rect">
            <a:avLst/>
          </a:prstGeom>
          <a:solidFill>
            <a:srgbClr val="2E75B6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🔴  The Attack</a:t>
            </a:r>
          </a:p>
        </p:txBody>
      </p:sp>
      <p:sp>
        <p:nvSpPr>
          <p:cNvPr id="6" name="atkbullets"/>
          <p:cNvSpPr/>
          <p:nvPr/>
        </p:nvSpPr>
        <p:spPr>
          <a:xfrm>
            <a:off x="411480" y="1234440"/>
            <a:ext cx="3749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</a:rPr>
              <a:t>Send order update with injected extra fields in the payload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</a:rPr>
              <a:t>Include: orderStatus: 120, totalAmount: 0, confirmationToken: hacked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</a:rPr>
              <a:t>DVSA-ORDER-UPDATE passes raw payload to DynamoDB — no validation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</a:rPr>
              <a:t>Protected fields like totalAmount overwritten without billing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</a:rPr>
              <a:t>Financial data manipulated — order shows $0 without any payment</a:t>
            </a:r>
            <a:endParaRPr lang="en-US" sz="1200" dirty="0"/>
          </a:p>
        </p:txBody>
      </p:sp>
      <p:sp>
        <p:nvSpPr>
          <p:cNvPr id="7" name="fixbox"/>
          <p:cNvSpPr/>
          <p:nvPr/>
        </p:nvSpPr>
        <p:spPr>
          <a:xfrm>
            <a:off x="4846320" y="731520"/>
            <a:ext cx="402336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fixhdr"/>
          <p:cNvSpPr/>
          <p:nvPr/>
        </p:nvSpPr>
        <p:spPr>
          <a:xfrm>
            <a:off x="4846320" y="731520"/>
            <a:ext cx="4023360" cy="411480"/>
          </a:xfrm>
          <a:prstGeom prst="rect">
            <a:avLst/>
          </a:prstGeom>
          <a:solidFill>
            <a:srgbClr val="C00000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🟢  The Fix</a:t>
            </a:r>
          </a:p>
        </p:txBody>
      </p:sp>
      <p:sp>
        <p:nvSpPr>
          <p:cNvPr id="9" name="fixbullets"/>
          <p:cNvSpPr/>
          <p:nvPr/>
        </p:nvSpPr>
        <p:spPr>
          <a:xfrm>
            <a:off x="4983480" y="1234440"/>
            <a:ext cx="3749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</a:rPr>
              <a:t>Implement server-side field allowlist in DVSA-ORDER-UPDATE Lambda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</a:rPr>
              <a:t>Only extract itemList from payload — all other fields silently ignored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</a:rPr>
              <a:t>Validate each item key is numeric — reject non-numeric keys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</a:rPr>
              <a:t>Invalid item key returns: Invalid item format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</a:rPr>
              <a:t>Verify: injected orderStatus and totalAmount ignored in DynamoDB</a:t>
            </a:r>
            <a:endParaRPr lang="en-US" sz="1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Bonus #B5: Mass Assignment on Order Update — Evidence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B4970C-6B66-59FE-8F0B-1E551DA2E9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685800"/>
            <a:ext cx="4918883" cy="4218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Bonus #B5: Mass Assignment on Order Update — Post-Fix Verification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BF44FD-2E3F-8C29-9360-7EEAEB456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980" y="892589"/>
            <a:ext cx="6106040" cy="16791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FBFEAB2-BC2C-5134-9C39-CFDB2FD60C7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702100"/>
            <a:ext cx="5943600" cy="22523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2E75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A2B4A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red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label"/>
          <p:cNvSpPr/>
          <p:nvPr/>
        </p:nvSpPr>
        <p:spPr>
          <a:xfrm>
            <a:off x="914400" y="1371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BDD7EE"/>
                </a:solidFill>
                <a:latin typeface="Calibri" pitchFamily="34" charset="0"/>
              </a:rPr>
              <a:t>Bonus #B6</a:t>
            </a:r>
          </a:p>
        </p:txBody>
      </p:sp>
      <p:sp>
        <p:nvSpPr>
          <p:cNvPr id="5" name="title"/>
          <p:cNvSpPr/>
          <p:nvPr/>
        </p:nvSpPr>
        <p:spPr>
          <a:xfrm>
            <a:off x="914400" y="19202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</a:rPr>
              <a:t>Verbose Errors Leaking Internal Paths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4A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hdrtxt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Bonus #B6: Verbose Errors Leaking Internal Paths — How It Works</a:t>
            </a:r>
          </a:p>
        </p:txBody>
      </p:sp>
      <p:sp>
        <p:nvSpPr>
          <p:cNvPr id="4" name="atkbox"/>
          <p:cNvSpPr/>
          <p:nvPr/>
        </p:nvSpPr>
        <p:spPr>
          <a:xfrm>
            <a:off x="274320" y="731520"/>
            <a:ext cx="402336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atkhdr"/>
          <p:cNvSpPr/>
          <p:nvPr/>
        </p:nvSpPr>
        <p:spPr>
          <a:xfrm>
            <a:off x="274320" y="731520"/>
            <a:ext cx="4023360" cy="411480"/>
          </a:xfrm>
          <a:prstGeom prst="rect">
            <a:avLst/>
          </a:prstGeom>
          <a:solidFill>
            <a:srgbClr val="2E75B6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🔴  The Attack</a:t>
            </a:r>
          </a:p>
        </p:txBody>
      </p:sp>
      <p:sp>
        <p:nvSpPr>
          <p:cNvPr id="6" name="atkbullets"/>
          <p:cNvSpPr/>
          <p:nvPr/>
        </p:nvSpPr>
        <p:spPr>
          <a:xfrm>
            <a:off x="411480" y="1234440"/>
            <a:ext cx="3749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</a:rPr>
              <a:t>Send action=shipping without order-id — KeyError stack trace returned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</a:rPr>
              <a:t>Stack trace reveals: order_shipping.py line 18, path /var/task/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</a:rPr>
              <a:t>Send action=complete — reveals order_complete.py line 33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</a:rPr>
              <a:t>Send action=cancel — reveals cancel_order.py line 18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</a:rPr>
              <a:t>Internal file paths and code structure exposed to any caller</a:t>
            </a:r>
            <a:endParaRPr lang="en-US" sz="1200" dirty="0"/>
          </a:p>
        </p:txBody>
      </p:sp>
      <p:sp>
        <p:nvSpPr>
          <p:cNvPr id="7" name="fixbox"/>
          <p:cNvSpPr/>
          <p:nvPr/>
        </p:nvSpPr>
        <p:spPr>
          <a:xfrm>
            <a:off x="4846320" y="731520"/>
            <a:ext cx="402336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fixhdr"/>
          <p:cNvSpPr/>
          <p:nvPr/>
        </p:nvSpPr>
        <p:spPr>
          <a:xfrm>
            <a:off x="4846320" y="731520"/>
            <a:ext cx="4023360" cy="411480"/>
          </a:xfrm>
          <a:prstGeom prst="rect">
            <a:avLst/>
          </a:prstGeom>
          <a:solidFill>
            <a:srgbClr val="C00000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🟢  The Fix</a:t>
            </a:r>
          </a:p>
        </p:txBody>
      </p:sp>
      <p:sp>
        <p:nvSpPr>
          <p:cNvPr id="9" name="fixbullets"/>
          <p:cNvSpPr/>
          <p:nvPr/>
        </p:nvSpPr>
        <p:spPr>
          <a:xfrm>
            <a:off x="4983480" y="1234440"/>
            <a:ext cx="3749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</a:rPr>
              <a:t>Wrap all three Lambda handlers in try-catch blocks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</a:rPr>
              <a:t>Log full error details to CloudWatch only — never to client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</a:rPr>
              <a:t>Return only generic message: {status: err, msg: An error occurred}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</a:rPr>
              <a:t>Applied to: DVSA-ORDER-SHIPPING, DVSA-ORDER-COMPLETE, DVSA-ORDER-CANCEL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</a:rPr>
              <a:t>Verify: malformed requests return generic error — no paths or line numbers</a:t>
            </a:r>
            <a:endParaRPr lang="en-US" sz="12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Bonus #B6: Verbose Errors Leaking Internal Paths — Evidence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5B0F0A-580F-891A-B7DE-33F4DD7B6D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014196"/>
            <a:ext cx="5943600" cy="3464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Bonus #B6: Verbose Errors Leaking Internal Paths — Post-Fix Verification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15A5C9-490B-E044-8AF3-3F1B07D3CA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2044" y="685800"/>
            <a:ext cx="4222539" cy="4274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2E75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A2B4A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red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label"/>
          <p:cNvSpPr/>
          <p:nvPr/>
        </p:nvSpPr>
        <p:spPr>
          <a:xfrm>
            <a:off x="914400" y="1371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BDD7EE"/>
                </a:solidFill>
                <a:latin typeface="Calibri" pitchFamily="34" charset="0"/>
              </a:rPr>
              <a:t>Bonus #B7</a:t>
            </a:r>
          </a:p>
        </p:txBody>
      </p:sp>
      <p:sp>
        <p:nvSpPr>
          <p:cNvPr id="5" name="title"/>
          <p:cNvSpPr/>
          <p:nvPr/>
        </p:nvSpPr>
        <p:spPr>
          <a:xfrm>
            <a:off x="914400" y="19202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</a:rPr>
              <a:t>Unauthenticated File Upload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4A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hdrtxt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Bonus #B7: Unauthenticated File Upload — How It Works</a:t>
            </a:r>
          </a:p>
        </p:txBody>
      </p:sp>
      <p:sp>
        <p:nvSpPr>
          <p:cNvPr id="4" name="atkbox"/>
          <p:cNvSpPr/>
          <p:nvPr/>
        </p:nvSpPr>
        <p:spPr>
          <a:xfrm>
            <a:off x="274320" y="731520"/>
            <a:ext cx="402336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atkhdr"/>
          <p:cNvSpPr/>
          <p:nvPr/>
        </p:nvSpPr>
        <p:spPr>
          <a:xfrm>
            <a:off x="274320" y="731520"/>
            <a:ext cx="4023360" cy="411480"/>
          </a:xfrm>
          <a:prstGeom prst="rect">
            <a:avLst/>
          </a:prstGeom>
          <a:solidFill>
            <a:srgbClr val="2E75B6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🔴  The Attack</a:t>
            </a:r>
          </a:p>
        </p:txBody>
      </p:sp>
      <p:sp>
        <p:nvSpPr>
          <p:cNvPr id="6" name="atkbullets"/>
          <p:cNvSpPr/>
          <p:nvPr/>
        </p:nvSpPr>
        <p:spPr>
          <a:xfrm>
            <a:off x="411480" y="1234440"/>
            <a:ext cx="3749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</a:rPr>
              <a:t>Invoke DVSA-FEEDBACK-UPLOADS Lambda directly — no JWT required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</a:rPr>
              <a:t>Lambda returns pre-signed S3 upload URL without any authentication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</a:rPr>
              <a:t>Upload arbitrary file using the URL — HTTP 204 confirms success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</a:rPr>
              <a:t>File appears in feedback S3 bucket with no authorization check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</a:rPr>
              <a:t>is_safe() filename validation was disabled (logic commented out)</a:t>
            </a:r>
            <a:endParaRPr lang="en-US" sz="1200" dirty="0"/>
          </a:p>
        </p:txBody>
      </p:sp>
      <p:sp>
        <p:nvSpPr>
          <p:cNvPr id="7" name="fixbox"/>
          <p:cNvSpPr/>
          <p:nvPr/>
        </p:nvSpPr>
        <p:spPr>
          <a:xfrm>
            <a:off x="4846320" y="731520"/>
            <a:ext cx="402336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fixhdr"/>
          <p:cNvSpPr/>
          <p:nvPr/>
        </p:nvSpPr>
        <p:spPr>
          <a:xfrm>
            <a:off x="4846320" y="731520"/>
            <a:ext cx="4023360" cy="411480"/>
          </a:xfrm>
          <a:prstGeom prst="rect">
            <a:avLst/>
          </a:prstGeom>
          <a:solidFill>
            <a:srgbClr val="C00000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🟢  The Fix</a:t>
            </a:r>
          </a:p>
        </p:txBody>
      </p:sp>
      <p:sp>
        <p:nvSpPr>
          <p:cNvPr id="9" name="fixbullets"/>
          <p:cNvSpPr/>
          <p:nvPr/>
        </p:nvSpPr>
        <p:spPr>
          <a:xfrm>
            <a:off x="4983480" y="1234440"/>
            <a:ext cx="3749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</a:rPr>
              <a:t>Add file extension allowlist: txt, pdf, png, jpg, jpeg only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</a:rPr>
              <a:t>Validate filename length (max 100 characters)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</a:rPr>
              <a:t>Sanitize filename: remove dangerous characters before S3 key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</a:rPr>
              <a:t>Re-enable is_safe() to reject semicolons, pipes, and quotes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</a:rPr>
              <a:t>Verify: .exe and other disallowed types return: File type not allowed</a:t>
            </a:r>
            <a:endParaRPr lang="en-US" sz="12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Bonus #B7: Unauthenticated File Upload — Evidence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9DA1DF-7B52-461F-86F3-3E6CC0C97CA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441" y="1309380"/>
            <a:ext cx="8315118" cy="2524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Bonus #B7: Unauthenticated File Upload — Post-Fix Verification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DF3A82-16AC-9452-094D-817967A9DDE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382" y="1586835"/>
            <a:ext cx="6859236" cy="2152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Security Takeaways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2E4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Never trust unverified JWT claims 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verify signatures using JWKS before trusting identity fields.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73352"/>
            <a:ext cx="8412480" cy="685800"/>
          </a:xfrm>
          <a:prstGeom prst="rect">
            <a:avLst/>
          </a:prstGeom>
          <a:solidFill>
            <a:srgbClr val="162D4A"/>
          </a:solidFill>
          <a:ln w="12700">
            <a:solidFill>
              <a:srgbClr val="2E4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71907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Validate all input — at every stage 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Second-order injections prove entry-point validation is not enough.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478024"/>
            <a:ext cx="841248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2E4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523744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Least privilege is mandatory in serverless 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roles define blast radius. Over-privilege = account-wide risk.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282696"/>
            <a:ext cx="8412480" cy="685800"/>
          </a:xfrm>
          <a:prstGeom prst="rect">
            <a:avLst/>
          </a:prstGeom>
          <a:solidFill>
            <a:srgbClr val="162D4A"/>
          </a:solidFill>
          <a:ln w="12700">
            <a:solidFill>
              <a:srgbClr val="2E4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3328416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Audit your dependencies 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abandoned npm package can invalidate all other security controls.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4087368"/>
            <a:ext cx="841248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2E4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4133088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Lock state transitions atomically 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conditions bypass business logic. Use DynamoDB conditional writes.</a:t>
            </a:r>
            <a:endParaRPr lang="en-US" sz="13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i="1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46405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ICS-344: Information Security  |  KFUPM  |  Term 252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2320</TotalTime>
  <Words>2340</Words>
  <Application>Microsoft Office PowerPoint</Application>
  <PresentationFormat>On-screen Show (16:9)</PresentationFormat>
  <Paragraphs>398</Paragraphs>
  <Slides>67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DVSA Vulnerability Discovery and Remediation</dc:title>
  <dc:subject>PptxGenJS Presentation</dc:subject>
  <dc:creator>ICS-344 Team</dc:creator>
  <cp:lastModifiedBy>sadiq alherz</cp:lastModifiedBy>
  <cp:revision>7</cp:revision>
  <dcterms:created xsi:type="dcterms:W3CDTF">2026-03-29T12:06:13Z</dcterms:created>
  <dcterms:modified xsi:type="dcterms:W3CDTF">2026-04-21T21:04:26Z</dcterms:modified>
</cp:coreProperties>
</file>